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D2707-ACEE-4635-9B47-518DD1CEA1B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11EFA-A330-4265-974E-F272ABD3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3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04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72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5974080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5974080"/>
            <a:ext cx="146304" cy="146304"/>
          </a:xfrm>
          <a:prstGeom prst="ellipse">
            <a:avLst/>
          </a:prstGeom>
          <a:solidFill>
            <a:srgbClr val="E8A838">
              <a:alpha val="4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200" y="5974080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6960" y="5974080"/>
            <a:ext cx="146304" cy="146304"/>
          </a:xfrm>
          <a:prstGeom prst="ellipse">
            <a:avLst/>
          </a:prstGeom>
          <a:solidFill>
            <a:srgbClr val="E8A838">
              <a:alpha val="4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5974080"/>
            <a:ext cx="146304" cy="14630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36480" y="5974080"/>
            <a:ext cx="146304" cy="146304"/>
          </a:xfrm>
          <a:prstGeom prst="ellipse">
            <a:avLst/>
          </a:prstGeom>
          <a:solidFill>
            <a:srgbClr val="E8A838">
              <a:alpha val="4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97536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kern="0" spc="1067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OF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584960"/>
            <a:ext cx="1097280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69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</a:t>
            </a:r>
            <a:endParaRPr lang="en-US" sz="6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3413760"/>
            <a:ext cx="3048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36576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Turing Test to the Age of Generative AI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→ Present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853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667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9144000" y="0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1970s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768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Foundations of AI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426720" y="2133600"/>
            <a:ext cx="268224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2133600"/>
            <a:ext cx="2682240" cy="670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6720" y="213360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1950</a:t>
            </a:r>
            <a:endParaRPr lang="en-US" sz="2667" dirty="0"/>
          </a:p>
        </p:txBody>
      </p:sp>
      <p:sp>
        <p:nvSpPr>
          <p:cNvPr id="9" name="Text 7"/>
          <p:cNvSpPr/>
          <p:nvPr/>
        </p:nvSpPr>
        <p:spPr>
          <a:xfrm>
            <a:off x="548640" y="286512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548640" y="359664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proposes the "imitation game" in Computing Machinery and Intelligence, establishing the foundational question: "Can machines think?"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3291840" y="2133600"/>
            <a:ext cx="268224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133600"/>
            <a:ext cx="2682240" cy="670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13360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1956</a:t>
            </a:r>
            <a:endParaRPr lang="en-US" sz="2667" dirty="0"/>
          </a:p>
        </p:txBody>
      </p:sp>
      <p:sp>
        <p:nvSpPr>
          <p:cNvPr id="14" name="Text 12"/>
          <p:cNvSpPr/>
          <p:nvPr/>
        </p:nvSpPr>
        <p:spPr>
          <a:xfrm>
            <a:off x="3413760" y="286512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3413760" y="359664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"Artificial Intelligence" is coined by John McCarthy. The field is officially born; Minsky, Shannon &amp; others attend.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6156960" y="2133600"/>
            <a:ext cx="268224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56960" y="2133600"/>
            <a:ext cx="268224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6960" y="213360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1966</a:t>
            </a:r>
            <a:endParaRPr lang="en-US" sz="2667" dirty="0"/>
          </a:p>
        </p:txBody>
      </p:sp>
      <p:sp>
        <p:nvSpPr>
          <p:cNvPr id="19" name="Text 17"/>
          <p:cNvSpPr/>
          <p:nvPr/>
        </p:nvSpPr>
        <p:spPr>
          <a:xfrm>
            <a:off x="6278880" y="286512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Chatbot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6278880" y="359664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natural language chatbot is created by Joseph Weizenbaum at MIT, simulating a psychotherapist.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9022080" y="2133600"/>
            <a:ext cx="268224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22080" y="2133600"/>
            <a:ext cx="2682240" cy="670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22080" y="213360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1969</a:t>
            </a:r>
            <a:endParaRPr lang="en-US" sz="2667" dirty="0"/>
          </a:p>
        </p:txBody>
      </p:sp>
      <p:sp>
        <p:nvSpPr>
          <p:cNvPr id="24" name="Text 22"/>
          <p:cNvSpPr/>
          <p:nvPr/>
        </p:nvSpPr>
        <p:spPr>
          <a:xfrm>
            <a:off x="9144000" y="286512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Shakey the Robot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9144000" y="3596640"/>
            <a:ext cx="24384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general-purpose mobile robot is developed at SRI International, capable of reasoning about its own actions.</a:t>
            </a:r>
            <a:endParaRPr lang="en-US" sz="12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853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WINTERS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8534400" y="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of Decline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7680" y="1036320"/>
            <a:ext cx="11216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Promise Froze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426720" y="2011680"/>
            <a:ext cx="5547360" cy="4450080"/>
          </a:xfrm>
          <a:prstGeom prst="rect">
            <a:avLst/>
          </a:prstGeom>
          <a:solidFill>
            <a:srgbClr val="2A0A0A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2011680"/>
            <a:ext cx="55473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2011680"/>
            <a:ext cx="518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FIRST AI WINTER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828544"/>
            <a:ext cx="5181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FF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1969 – 1980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609600" y="3316224"/>
            <a:ext cx="51816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657600"/>
            <a:ext cx="518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Lighthill Report (1973) criticised AI progress</a:t>
            </a:r>
            <a:endParaRPr lang="en-US" sz="1267" dirty="0"/>
          </a:p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limitations exposed by Minsky &amp; Papert</a:t>
            </a:r>
            <a:endParaRPr lang="en-US" sz="1267" dirty="0"/>
          </a:p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slashes funding drastically</a:t>
            </a:r>
            <a:endParaRPr lang="en-US" sz="1267" dirty="0"/>
          </a:p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promises failed to materialise</a:t>
            </a:r>
            <a:endParaRPr lang="en-US" sz="1267" dirty="0"/>
          </a:p>
          <a:p>
            <a:endParaRPr lang="en-US" sz="1267" dirty="0"/>
          </a:p>
        </p:txBody>
      </p:sp>
      <p:sp>
        <p:nvSpPr>
          <p:cNvPr id="12" name="Text 10"/>
          <p:cNvSpPr/>
          <p:nvPr/>
        </p:nvSpPr>
        <p:spPr>
          <a:xfrm>
            <a:off x="609600" y="5181600"/>
            <a:ext cx="51816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AI research labs closed across the UK &amp; US. The field entered a decade of scepticism and isolation.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39840" y="2011680"/>
            <a:ext cx="5547360" cy="4450080"/>
          </a:xfrm>
          <a:prstGeom prst="rect">
            <a:avLst/>
          </a:prstGeom>
          <a:solidFill>
            <a:srgbClr val="2A0A0A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39840" y="2011680"/>
            <a:ext cx="55473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2720" y="2011680"/>
            <a:ext cx="518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SECOND AI WINTER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22720" y="2828544"/>
            <a:ext cx="5181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FF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1987 – 1993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6522720" y="3316224"/>
            <a:ext cx="51816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22720" y="3657600"/>
            <a:ext cx="518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proved too expensive &amp; brittle</a:t>
            </a:r>
            <a:endParaRPr lang="en-US" sz="1267" dirty="0"/>
          </a:p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 machine market collapsed ($2B market vanished)</a:t>
            </a:r>
            <a:endParaRPr lang="en-US" sz="1267" dirty="0"/>
          </a:p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cancelled the Strategic Computing Initiative</a:t>
            </a:r>
            <a:endParaRPr lang="en-US" sz="1267" dirty="0"/>
          </a:p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hype cycle peaked then crashed</a:t>
            </a:r>
            <a:endParaRPr lang="en-US" sz="1267" dirty="0"/>
          </a:p>
          <a:p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6522720" y="5181600"/>
            <a:ext cx="51816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Commercial AI ventures collapsed. Neural network research was largely abandoned by mainstream funding bodies.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853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kern="0" spc="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SUCCESSES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9144000" y="0"/>
            <a:ext cx="268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– Present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7680" y="1036320"/>
            <a:ext cx="11216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 Learning Revolution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243840" y="2011680"/>
            <a:ext cx="2170176" cy="4450080"/>
          </a:xfrm>
          <a:prstGeom prst="rect">
            <a:avLst/>
          </a:prstGeom>
          <a:solidFill>
            <a:srgbClr val="0D2E0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2011680"/>
            <a:ext cx="2170176" cy="609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840" y="2011680"/>
            <a:ext cx="217017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2006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341376" y="2682240"/>
            <a:ext cx="1975104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Born</a:t>
            </a:r>
            <a:endParaRPr lang="en-US" sz="1267" dirty="0"/>
          </a:p>
        </p:txBody>
      </p:sp>
      <p:sp>
        <p:nvSpPr>
          <p:cNvPr id="10" name="Text 8"/>
          <p:cNvSpPr/>
          <p:nvPr/>
        </p:nvSpPr>
        <p:spPr>
          <a:xfrm>
            <a:off x="341376" y="3389376"/>
            <a:ext cx="197510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Hinton, LeCun &amp; Bengio</a:t>
            </a:r>
            <a:endParaRPr lang="en-US" sz="1133" dirty="0"/>
          </a:p>
        </p:txBody>
      </p:sp>
      <p:sp>
        <p:nvSpPr>
          <p:cNvPr id="11" name="Text 9"/>
          <p:cNvSpPr/>
          <p:nvPr/>
        </p:nvSpPr>
        <p:spPr>
          <a:xfrm>
            <a:off x="341376" y="3901440"/>
            <a:ext cx="1975104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belief networks revive neural network research. The "Three Godfathers of AI" lay the theoretical foundation.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2596896" y="2011680"/>
            <a:ext cx="2170176" cy="4450080"/>
          </a:xfrm>
          <a:prstGeom prst="rect">
            <a:avLst/>
          </a:prstGeom>
          <a:solidFill>
            <a:srgbClr val="0D2E0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96896" y="2011680"/>
            <a:ext cx="2170176" cy="6096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2011680"/>
            <a:ext cx="217017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2694432" y="2682240"/>
            <a:ext cx="1975104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&amp; ImageNet</a:t>
            </a:r>
            <a:endParaRPr lang="en-US" sz="1267" dirty="0"/>
          </a:p>
        </p:txBody>
      </p:sp>
      <p:sp>
        <p:nvSpPr>
          <p:cNvPr id="16" name="Text 14"/>
          <p:cNvSpPr/>
          <p:nvPr/>
        </p:nvSpPr>
        <p:spPr>
          <a:xfrm>
            <a:off x="2694432" y="3389376"/>
            <a:ext cx="197510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Univ. of Toronto</a:t>
            </a:r>
            <a:endParaRPr lang="en-US" sz="1133" dirty="0"/>
          </a:p>
        </p:txBody>
      </p:sp>
      <p:sp>
        <p:nvSpPr>
          <p:cNvPr id="17" name="Text 15"/>
          <p:cNvSpPr/>
          <p:nvPr/>
        </p:nvSpPr>
        <p:spPr>
          <a:xfrm>
            <a:off x="2694432" y="3901440"/>
            <a:ext cx="1975104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CNN wins ImageNet by a massive margin, triggering a global race in computer vision and deep learning.</a:t>
            </a:r>
            <a:endParaRPr lang="en-US" sz="1133" dirty="0"/>
          </a:p>
        </p:txBody>
      </p:sp>
      <p:sp>
        <p:nvSpPr>
          <p:cNvPr id="18" name="Shape 16"/>
          <p:cNvSpPr/>
          <p:nvPr/>
        </p:nvSpPr>
        <p:spPr>
          <a:xfrm>
            <a:off x="4949952" y="2011680"/>
            <a:ext cx="2170176" cy="4450080"/>
          </a:xfrm>
          <a:prstGeom prst="rect">
            <a:avLst/>
          </a:prstGeom>
          <a:solidFill>
            <a:srgbClr val="0D2E0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49952" y="2011680"/>
            <a:ext cx="2170176" cy="609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9952" y="2011680"/>
            <a:ext cx="217017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5047488" y="2682240"/>
            <a:ext cx="1975104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Victory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5047488" y="3389376"/>
            <a:ext cx="197510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(Google)</a:t>
            </a:r>
            <a:endParaRPr lang="en-US" sz="1133" dirty="0"/>
          </a:p>
        </p:txBody>
      </p:sp>
      <p:sp>
        <p:nvSpPr>
          <p:cNvPr id="23" name="Text 21"/>
          <p:cNvSpPr/>
          <p:nvPr/>
        </p:nvSpPr>
        <p:spPr>
          <a:xfrm>
            <a:off x="5047488" y="3901440"/>
            <a:ext cx="1975104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defeats world champion Lee Sedol at Go — a milestone considered a decade ahead of its time.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7303008" y="2011680"/>
            <a:ext cx="2170176" cy="4450080"/>
          </a:xfrm>
          <a:prstGeom prst="rect">
            <a:avLst/>
          </a:prstGeom>
          <a:solidFill>
            <a:srgbClr val="0D2E0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03008" y="2011680"/>
            <a:ext cx="2170176" cy="6096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03008" y="2011680"/>
            <a:ext cx="217017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2133" dirty="0"/>
          </a:p>
        </p:txBody>
      </p:sp>
      <p:sp>
        <p:nvSpPr>
          <p:cNvPr id="27" name="Text 25"/>
          <p:cNvSpPr/>
          <p:nvPr/>
        </p:nvSpPr>
        <p:spPr>
          <a:xfrm>
            <a:off x="7400544" y="2682240"/>
            <a:ext cx="1975104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7400544" y="3389376"/>
            <a:ext cx="197510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Brain</a:t>
            </a:r>
            <a:endParaRPr lang="en-US" sz="1133" dirty="0"/>
          </a:p>
        </p:txBody>
      </p:sp>
      <p:sp>
        <p:nvSpPr>
          <p:cNvPr id="29" name="Text 27"/>
          <p:cNvSpPr/>
          <p:nvPr/>
        </p:nvSpPr>
        <p:spPr>
          <a:xfrm>
            <a:off x="7400544" y="3901440"/>
            <a:ext cx="1975104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introduces the Transformer architecture — the backbone of ChatGPT and modern LLMs.</a:t>
            </a:r>
            <a:endParaRPr lang="en-US" sz="1133" dirty="0"/>
          </a:p>
        </p:txBody>
      </p:sp>
      <p:sp>
        <p:nvSpPr>
          <p:cNvPr id="30" name="Shape 28"/>
          <p:cNvSpPr/>
          <p:nvPr/>
        </p:nvSpPr>
        <p:spPr>
          <a:xfrm>
            <a:off x="9656064" y="2011680"/>
            <a:ext cx="2170176" cy="4450080"/>
          </a:xfrm>
          <a:prstGeom prst="rect">
            <a:avLst/>
          </a:prstGeom>
          <a:solidFill>
            <a:srgbClr val="0D2E0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56064" y="2011680"/>
            <a:ext cx="2170176" cy="609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56064" y="2011680"/>
            <a:ext cx="217017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2133" dirty="0"/>
          </a:p>
        </p:txBody>
      </p:sp>
      <p:sp>
        <p:nvSpPr>
          <p:cNvPr id="33" name="Text 31"/>
          <p:cNvSpPr/>
          <p:nvPr/>
        </p:nvSpPr>
        <p:spPr>
          <a:xfrm>
            <a:off x="9753600" y="2682240"/>
            <a:ext cx="1975104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GPT-4</a:t>
            </a:r>
            <a:endParaRPr lang="en-US" sz="1267" dirty="0"/>
          </a:p>
        </p:txBody>
      </p:sp>
      <p:sp>
        <p:nvSpPr>
          <p:cNvPr id="34" name="Text 32"/>
          <p:cNvSpPr/>
          <p:nvPr/>
        </p:nvSpPr>
        <p:spPr>
          <a:xfrm>
            <a:off x="9753600" y="3389376"/>
            <a:ext cx="197510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33" dirty="0"/>
          </a:p>
        </p:txBody>
      </p:sp>
      <p:sp>
        <p:nvSpPr>
          <p:cNvPr id="35" name="Text 33"/>
          <p:cNvSpPr/>
          <p:nvPr/>
        </p:nvSpPr>
        <p:spPr>
          <a:xfrm>
            <a:off x="9753600" y="3901440"/>
            <a:ext cx="1975104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made available to the public. 100M users are reached in under 2 months — fastest in history.</a:t>
            </a:r>
            <a:endParaRPr lang="en-US" sz="11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kern="0" spc="66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AI TIMELINE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3011424"/>
            <a:ext cx="1146048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3840" y="2926080"/>
            <a:ext cx="243840" cy="2438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3568" y="1706880"/>
            <a:ext cx="24384" cy="1341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304800" y="91440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-304800" y="1316736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524000" y="2926080"/>
            <a:ext cx="243840" cy="24384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3728" y="3169920"/>
            <a:ext cx="24384" cy="1219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" y="438912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360" y="4754880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804160" y="2926080"/>
            <a:ext cx="243840" cy="2438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3888" y="1706880"/>
            <a:ext cx="24384" cy="1341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5520" y="91440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55520" y="1316736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Chatbot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84320" y="2926080"/>
            <a:ext cx="243840" cy="2438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94048" y="3169920"/>
            <a:ext cx="24384" cy="1219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5680" y="438912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35680" y="4754880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AI Winter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64480" y="2926080"/>
            <a:ext cx="243840" cy="2438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4208" y="1706880"/>
            <a:ext cx="24384" cy="1341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91440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1987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15840" y="1316736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AI Winter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44640" y="2926080"/>
            <a:ext cx="243840" cy="2438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4368" y="3169920"/>
            <a:ext cx="24384" cy="1219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6000" y="438912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96000" y="4754880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24800" y="2926080"/>
            <a:ext cx="243840" cy="2438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34528" y="1706880"/>
            <a:ext cx="24384" cy="13411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6160" y="91440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76160" y="1316736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04960" y="2926080"/>
            <a:ext cx="243840" cy="2438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14688" y="3169920"/>
            <a:ext cx="24384" cy="1219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56320" y="438912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56320" y="4754880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485120" y="2926080"/>
            <a:ext cx="243840" cy="24384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94848" y="1706880"/>
            <a:ext cx="24384" cy="13411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36480" y="91440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36480" y="1316736"/>
            <a:ext cx="1341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7680" y="6217920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15696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682240" y="621792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615696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876800" y="6217920"/>
            <a:ext cx="182880" cy="18288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6156960"/>
            <a:ext cx="1828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429</Words>
  <Application>Microsoft Office PowerPoint</Application>
  <PresentationFormat>Widescreen</PresentationFormat>
  <Paragraphs>88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Georgia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Arvinnd Chowdary Kuchipudi</dc:creator>
  <cp:lastModifiedBy>Arvinnd Chowdary Kuchipudi</cp:lastModifiedBy>
  <cp:revision>1</cp:revision>
  <dcterms:created xsi:type="dcterms:W3CDTF">2026-03-05T17:01:09Z</dcterms:created>
  <dcterms:modified xsi:type="dcterms:W3CDTF">2026-03-05T17:33:56Z</dcterms:modified>
</cp:coreProperties>
</file>